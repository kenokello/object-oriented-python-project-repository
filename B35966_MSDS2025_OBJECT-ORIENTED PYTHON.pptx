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261a916d7aec942a" providerId="LiveId" clId="{2B83DCB8-2EFE-46E1-9757-BA296DD0209B}"/>
    <pc:docChg chg="undo custSel modSld">
      <pc:chgData name="" userId="261a916d7aec942a" providerId="LiveId" clId="{2B83DCB8-2EFE-46E1-9757-BA296DD0209B}" dt="2025-12-12T12:06:13.071" v="135"/>
      <pc:docMkLst>
        <pc:docMk/>
      </pc:docMkLst>
      <pc:sldChg chg="modSp">
        <pc:chgData name="" userId="261a916d7aec942a" providerId="LiveId" clId="{2B83DCB8-2EFE-46E1-9757-BA296DD0209B}" dt="2025-12-12T11:33:42.087" v="76" actId="14100"/>
        <pc:sldMkLst>
          <pc:docMk/>
          <pc:sldMk cId="0" sldId="264"/>
        </pc:sldMkLst>
        <pc:spChg chg="mod">
          <ac:chgData name="" userId="261a916d7aec942a" providerId="LiveId" clId="{2B83DCB8-2EFE-46E1-9757-BA296DD0209B}" dt="2025-12-12T11:33:42.087" v="76" actId="14100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" userId="261a916d7aec942a" providerId="LiveId" clId="{2B83DCB8-2EFE-46E1-9757-BA296DD0209B}" dt="2025-12-12T11:34:53.547" v="80" actId="20577"/>
        <pc:sldMkLst>
          <pc:docMk/>
          <pc:sldMk cId="0" sldId="265"/>
        </pc:sldMkLst>
        <pc:spChg chg="mod">
          <ac:chgData name="" userId="261a916d7aec942a" providerId="LiveId" clId="{2B83DCB8-2EFE-46E1-9757-BA296DD0209B}" dt="2025-12-12T11:34:53.547" v="80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" userId="261a916d7aec942a" providerId="LiveId" clId="{2B83DCB8-2EFE-46E1-9757-BA296DD0209B}" dt="2025-12-12T11:42:57.892" v="129" actId="27636"/>
        <pc:sldMkLst>
          <pc:docMk/>
          <pc:sldMk cId="0" sldId="267"/>
        </pc:sldMkLst>
        <pc:spChg chg="mod">
          <ac:chgData name="" userId="261a916d7aec942a" providerId="LiveId" clId="{2B83DCB8-2EFE-46E1-9757-BA296DD0209B}" dt="2025-12-12T11:42:57.892" v="129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" userId="261a916d7aec942a" providerId="LiveId" clId="{2B83DCB8-2EFE-46E1-9757-BA296DD0209B}" dt="2025-12-12T12:05:03.272" v="133" actId="20577"/>
        <pc:sldMkLst>
          <pc:docMk/>
          <pc:sldMk cId="0" sldId="270"/>
        </pc:sldMkLst>
        <pc:spChg chg="mod">
          <ac:chgData name="" userId="261a916d7aec942a" providerId="LiveId" clId="{2B83DCB8-2EFE-46E1-9757-BA296DD0209B}" dt="2025-12-12T12:05:03.272" v="133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" userId="261a916d7aec942a" providerId="LiveId" clId="{2B83DCB8-2EFE-46E1-9757-BA296DD0209B}" dt="2025-12-12T12:06:13.071" v="135"/>
        <pc:sldMkLst>
          <pc:docMk/>
          <pc:sldMk cId="0" sldId="271"/>
        </pc:sldMkLst>
        <pc:spChg chg="mod">
          <ac:chgData name="" userId="261a916d7aec942a" providerId="LiveId" clId="{2B83DCB8-2EFE-46E1-9757-BA296DD0209B}" dt="2025-12-12T12:06:13.071" v="135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B80AB5-7436-75B1-AD83-78D0487D2BB0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D204D7-4850-7CC0-84AD-9D404EB03EFC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info@ucu.ac.ug" TargetMode="External"/><Relationship Id="rId5" Type="http://schemas.openxmlformats.org/officeDocument/2006/relationships/hyperlink" Target="https://ucu.ac.ug/" TargetMode="Externa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52048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7754990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2572587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182374686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96932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0078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68212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798889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70540895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433849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9531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14902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7934722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19619260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897647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7846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4705610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995425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252192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29469999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025490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3149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568061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solidFill>
            <a:srgbClr val="D7014D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6716966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7731015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solidFill>
            <a:srgbClr val="FFD932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77026251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378276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1912962480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0776296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8820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4637696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749805253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3937377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99346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1796373808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7774904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70189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7453129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87039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291247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800084604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664383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62435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7660109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83051082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4167342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201848357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056061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0608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8040392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982593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22167660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033016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5985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6655453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849325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45015422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378988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Las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252593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  <p:sp>
        <p:nvSpPr>
          <p:cNvPr id="1396415696" name="Date Placeholder 3"/>
          <p:cNvSpPr>
            <a:spLocks noGrp="1"/>
          </p:cNvSpPr>
          <p:nvPr>
            <p:ph type="dt" sz="half" idx="11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331792334" name="Footer Placeholder 4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grpSp>
        <p:nvGrpSpPr>
          <p:cNvPr id="817718209" name="Group 19"/>
          <p:cNvGrpSpPr/>
          <p:nvPr userDrawn="1"/>
        </p:nvGrpSpPr>
        <p:grpSpPr bwMode="auto">
          <a:xfrm>
            <a:off x="2836065" y="3885190"/>
            <a:ext cx="6359384" cy="2140032"/>
            <a:chOff x="3054867" y="3815867"/>
            <a:chExt cx="6359384" cy="2140032"/>
          </a:xfrm>
        </p:grpSpPr>
        <p:grpSp>
          <p:nvGrpSpPr>
            <p:cNvPr id="6" name="Group 5"/>
            <p:cNvGrpSpPr/>
            <p:nvPr userDrawn="1"/>
          </p:nvGrpSpPr>
          <p:grpSpPr bwMode="auto">
            <a:xfrm>
              <a:off x="4699683" y="3815867"/>
              <a:ext cx="4714568" cy="2140032"/>
              <a:chOff x="4173580" y="3135225"/>
              <a:chExt cx="5623246" cy="2568070"/>
            </a:xfrm>
          </p:grpSpPr>
          <p:pic>
            <p:nvPicPr>
              <p:cNvPr id="7" name="Picture 4" descr="facebook instagram whatsapp PNG image with transparent background | TOPpng"/>
              <p:cNvPicPr>
                <a:picLocks noChangeAspect="1" noChangeArrowheads="1"/>
              </p:cNvPicPr>
              <p:nvPr/>
            </p:nvPicPr>
            <p:blipFill rotWithShape="1">
              <a:blip r:embed="rId2"/>
              <a:srcRect r="66494" b="67238"/>
              <a:stretch/>
            </p:blipFill>
            <p:spPr bwMode="auto">
              <a:xfrm>
                <a:off x="4238019" y="4511394"/>
                <a:ext cx="413410" cy="429912"/>
              </a:xfrm>
              <a:prstGeom prst="rect">
                <a:avLst/>
              </a:prstGeom>
              <a:noFill/>
            </p:spPr>
          </p:pic>
          <p:pic>
            <p:nvPicPr>
              <p:cNvPr id="8" name="Picture 6" descr="facebook instagram whatsapp PNG image with transparent background | TOPpng"/>
              <p:cNvPicPr>
                <a:picLocks noChangeAspect="1" noChangeArrowheads="1"/>
              </p:cNvPicPr>
              <p:nvPr/>
            </p:nvPicPr>
            <p:blipFill rotWithShape="1">
              <a:blip r:embed="rId3"/>
              <a:srcRect l="67402" b="69905"/>
              <a:stretch/>
            </p:blipFill>
            <p:spPr bwMode="auto">
              <a:xfrm>
                <a:off x="4296096" y="4883265"/>
                <a:ext cx="413865" cy="406381"/>
              </a:xfrm>
              <a:prstGeom prst="rect">
                <a:avLst/>
              </a:prstGeom>
              <a:noFill/>
            </p:spPr>
          </p:pic>
          <p:pic>
            <p:nvPicPr>
              <p:cNvPr id="9" name="Picture 8" descr="Round black telephone logo, Telephone Icon, Phone File, electronics, logo,  black And White png | PNGWing"/>
              <p:cNvPicPr>
                <a:picLocks noChangeAspect="1" noChangeArrowheads="1"/>
              </p:cNvPicPr>
              <p:nvPr/>
            </p:nvPicPr>
            <p:blipFill rotWithShape="1">
              <a:blip r:embed="rId4"/>
              <a:stretch/>
            </p:blipFill>
            <p:spPr bwMode="auto">
              <a:xfrm>
                <a:off x="4275797" y="5317157"/>
                <a:ext cx="371315" cy="386138"/>
              </a:xfrm>
              <a:prstGeom prst="rect">
                <a:avLst/>
              </a:prstGeom>
              <a:noFill/>
            </p:spPr>
          </p:pic>
          <p:sp>
            <p:nvSpPr>
              <p:cNvPr id="10" name="TextBox 9"/>
              <p:cNvSpPr txBox="1"/>
              <p:nvPr/>
            </p:nvSpPr>
            <p:spPr bwMode="auto">
              <a:xfrm>
                <a:off x="4629313" y="4929543"/>
                <a:ext cx="2964236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US" sz="1350">
                    <a:solidFill>
                      <a:prstClr val="black"/>
                    </a:solidFill>
                    <a:latin typeface="Trebuchet MS"/>
                  </a:rPr>
                  <a:t>@ugandachristianuniversity</a:t>
                </a:r>
                <a:endParaRPr sz="1350">
                  <a:solidFill>
                    <a:prstClr val="black"/>
                  </a:solidFill>
                  <a:latin typeface="Trebuchet MS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 bwMode="auto">
              <a:xfrm>
                <a:off x="4570065" y="5343192"/>
                <a:ext cx="2851459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GB" sz="1350" u="sng">
                    <a:solidFill>
                      <a:srgbClr val="0000FF"/>
                    </a:solidFill>
                    <a:latin typeface="Trebuchet MS"/>
                    <a:hlinkClick r:id="rId5"/>
                  </a:rPr>
                  <a:t>https://ucu.ac.ug/</a:t>
                </a:r>
                <a:r>
                  <a:rPr lang="en-GB" sz="1350">
                    <a:solidFill>
                      <a:srgbClr val="0000FF"/>
                    </a:solidFill>
                    <a:latin typeface="Trebuchet MS"/>
                  </a:rPr>
                  <a:t> </a:t>
                </a:r>
                <a:endParaRPr sz="1350">
                  <a:solidFill>
                    <a:srgbClr val="0000FF"/>
                  </a:solidFill>
                  <a:latin typeface="Trebuchet MS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 bwMode="auto">
              <a:xfrm>
                <a:off x="8015811" y="4532448"/>
                <a:ext cx="1781015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GB" sz="135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Trebuchet MS"/>
                  </a:rPr>
                  <a:t>@UCUniversity</a:t>
                </a:r>
                <a:endParaRPr sz="1350">
                  <a:solidFill>
                    <a:prstClr val="black">
                      <a:lumMod val="95000"/>
                      <a:lumOff val="5000"/>
                    </a:prstClr>
                  </a:solidFill>
                  <a:latin typeface="Trebuchet MS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 bwMode="auto">
              <a:xfrm>
                <a:off x="4535920" y="4545114"/>
                <a:ext cx="3240067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GB" sz="135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Trebuchet MS"/>
                  </a:rPr>
                  <a:t>@UgandaChristianUniversity</a:t>
                </a:r>
                <a:endParaRPr sz="1350">
                  <a:solidFill>
                    <a:prstClr val="black">
                      <a:lumMod val="95000"/>
                      <a:lumOff val="5000"/>
                    </a:prstClr>
                  </a:solidFill>
                  <a:latin typeface="Trebuchet MS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 bwMode="auto">
              <a:xfrm>
                <a:off x="4201882" y="3514011"/>
                <a:ext cx="3513911" cy="8864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sv-SE" sz="1400">
                    <a:solidFill>
                      <a:srgbClr val="5B9BD5">
                        <a:lumMod val="50000"/>
                      </a:srgbClr>
                    </a:solidFill>
                    <a:latin typeface="Trebuchet MS"/>
                  </a:rPr>
                  <a:t>P.O. Box 4 Mukono, Uganda</a:t>
                </a:r>
                <a:endParaRPr/>
              </a:p>
              <a:p>
                <a:pPr defTabSz="685800">
                  <a:defRPr/>
                </a:pPr>
                <a:r>
                  <a:rPr lang="en-GB" sz="1400">
                    <a:solidFill>
                      <a:srgbClr val="5B9BD5">
                        <a:lumMod val="50000"/>
                      </a:srgbClr>
                    </a:solidFill>
                    <a:latin typeface="Trebuchet MS"/>
                  </a:rPr>
                  <a:t>Tel: 256-312-350800</a:t>
                </a:r>
                <a:endParaRPr/>
              </a:p>
              <a:p>
                <a:pPr defTabSz="685800">
                  <a:defRPr/>
                </a:pPr>
                <a:r>
                  <a:rPr lang="fr-FR" sz="1400">
                    <a:solidFill>
                      <a:srgbClr val="5B9BD5">
                        <a:lumMod val="50000"/>
                      </a:srgbClr>
                    </a:solidFill>
                    <a:latin typeface="Trebuchet MS"/>
                  </a:rPr>
                  <a:t>Email: </a:t>
                </a:r>
                <a:r>
                  <a:rPr lang="fr-FR" sz="1400" u="sng">
                    <a:solidFill>
                      <a:srgbClr val="0000FF"/>
                    </a:solidFill>
                    <a:latin typeface="Trebuchet MS"/>
                    <a:hlinkClick r:id="rId6"/>
                  </a:rPr>
                  <a:t>info@ucu.ac.ug</a:t>
                </a:r>
                <a:endParaRPr lang="fr-FR" sz="1400">
                  <a:solidFill>
                    <a:srgbClr val="0000FF"/>
                  </a:solidFill>
                  <a:latin typeface="Trebuchet MS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4173580" y="3135225"/>
                <a:ext cx="4174871" cy="480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GB" sz="2000" b="1">
                    <a:solidFill>
                      <a:srgbClr val="5B9BD5">
                        <a:lumMod val="50000"/>
                      </a:srgbClr>
                    </a:solidFill>
                    <a:latin typeface="Trebuchet MS"/>
                  </a:rPr>
                  <a:t>Uganda Christian University</a:t>
                </a:r>
                <a:endParaRPr sz="2000">
                  <a:solidFill>
                    <a:srgbClr val="5B9BD5">
                      <a:lumMod val="50000"/>
                    </a:srgbClr>
                  </a:solidFill>
                  <a:latin typeface="Trebuchet MS"/>
                </a:endParaRPr>
              </a:p>
            </p:txBody>
          </p:sp>
          <p:pic>
            <p:nvPicPr>
              <p:cNvPr id="16" name="Picture 6" descr="facebook instagram whatsapp PNG image with transparent background | TOPpng"/>
              <p:cNvPicPr>
                <a:picLocks noChangeAspect="1" noChangeArrowheads="1"/>
              </p:cNvPicPr>
              <p:nvPr userDrawn="1"/>
            </p:nvPicPr>
            <p:blipFill rotWithShape="1">
              <a:blip r:embed="rId3"/>
              <a:srcRect t="34921" r="64675" b="31936"/>
              <a:stretch/>
            </p:blipFill>
            <p:spPr bwMode="auto">
              <a:xfrm>
                <a:off x="7686943" y="4513314"/>
                <a:ext cx="448491" cy="447534"/>
              </a:xfrm>
              <a:prstGeom prst="rect">
                <a:avLst/>
              </a:prstGeom>
              <a:noFill/>
            </p:spPr>
          </p:pic>
        </p:grp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7"/>
            <a:srcRect l="4177" t="16271" r="77310" b="16736"/>
            <a:stretch/>
          </p:blipFill>
          <p:spPr bwMode="auto">
            <a:xfrm>
              <a:off x="3054867" y="3883165"/>
              <a:ext cx="1730515" cy="1908000"/>
            </a:xfrm>
            <a:prstGeom prst="rect">
              <a:avLst/>
            </a:prstGeom>
          </p:spPr>
        </p:pic>
      </p:grpSp>
      <p:pic>
        <p:nvPicPr>
          <p:cNvPr id="390010003" name="Picture 2" descr="Red button thank you icon Royalty Free Vector Image"/>
          <p:cNvPicPr>
            <a:picLocks noChangeAspect="1" noChangeArrowheads="1"/>
          </p:cNvPicPr>
          <p:nvPr userDrawn="1"/>
        </p:nvPicPr>
        <p:blipFill rotWithShape="1">
          <a:blip r:embed="rId8"/>
          <a:srcRect b="13043"/>
          <a:stretch/>
        </p:blipFill>
        <p:spPr bwMode="auto">
          <a:xfrm>
            <a:off x="4606336" y="1691476"/>
            <a:ext cx="1825644" cy="170412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ucu.ac.ug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mailto:info@ucu.ac.ug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9180716" name="Picture 10"/>
          <p:cNvPicPr>
            <a:picLocks noChangeAspect="1"/>
          </p:cNvPicPr>
          <p:nvPr userDrawn="1"/>
        </p:nvPicPr>
        <p:blipFill rotWithShape="1">
          <a:blip r:embed="rId14"/>
          <a:stretch/>
        </p:blipFill>
        <p:spPr bwMode="auto">
          <a:xfrm>
            <a:off x="9776791" y="0"/>
            <a:ext cx="2415209" cy="735885"/>
          </a:xfrm>
          <a:prstGeom prst="rect">
            <a:avLst/>
          </a:prstGeom>
        </p:spPr>
      </p:pic>
      <p:sp>
        <p:nvSpPr>
          <p:cNvPr id="11615843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38845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687514"/>
            <a:ext cx="10515600" cy="448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44926509" name="Rectangle 6"/>
          <p:cNvSpPr/>
          <p:nvPr userDrawn="1"/>
        </p:nvSpPr>
        <p:spPr bwMode="auto">
          <a:xfrm>
            <a:off x="838200" y="1508126"/>
            <a:ext cx="11353800" cy="179387"/>
          </a:xfrm>
          <a:prstGeom prst="rect">
            <a:avLst/>
          </a:prstGeom>
          <a:solidFill>
            <a:srgbClr val="0B3D9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42792076" name="Rectangle 7"/>
          <p:cNvSpPr/>
          <p:nvPr userDrawn="1"/>
        </p:nvSpPr>
        <p:spPr bwMode="auto">
          <a:xfrm>
            <a:off x="0" y="1508126"/>
            <a:ext cx="838200" cy="179387"/>
          </a:xfrm>
          <a:prstGeom prst="rect">
            <a:avLst/>
          </a:prstGeom>
          <a:solidFill>
            <a:srgbClr val="D7014D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73500474" name="Rectangle 11"/>
          <p:cNvSpPr/>
          <p:nvPr userDrawn="1"/>
        </p:nvSpPr>
        <p:spPr bwMode="auto">
          <a:xfrm>
            <a:off x="838200" y="1508125"/>
            <a:ext cx="838200" cy="179387"/>
          </a:xfrm>
          <a:prstGeom prst="rect">
            <a:avLst/>
          </a:prstGeom>
          <a:solidFill>
            <a:srgbClr val="FFD93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852647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809962" y="6356350"/>
            <a:ext cx="543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  <p:sp>
        <p:nvSpPr>
          <p:cNvPr id="76936216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10281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45D528E-B0C4-574C-AE6E-B35A83CFEB13}" type="datetimeFigureOut">
              <a:rPr lang="en-GB"/>
              <a:t>12/12/2025</a:t>
            </a:fld>
            <a:endParaRPr lang="en-GB"/>
          </a:p>
        </p:txBody>
      </p:sp>
      <p:sp>
        <p:nvSpPr>
          <p:cNvPr id="188596090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116899" y="6251714"/>
            <a:ext cx="8129391" cy="469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19626698" name="TextBox 14"/>
          <p:cNvSpPr txBox="1"/>
          <p:nvPr userDrawn="1"/>
        </p:nvSpPr>
        <p:spPr bwMode="auto">
          <a:xfrm>
            <a:off x="3975652" y="6176964"/>
            <a:ext cx="3627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850" b="1">
                <a:solidFill>
                  <a:srgbClr val="0B3D91"/>
                </a:solidFill>
              </a:rPr>
              <a:t>A Complete Education for A Complete Person</a:t>
            </a:r>
            <a:endParaRPr/>
          </a:p>
          <a:p>
            <a:pPr algn="ctr">
              <a:defRPr/>
            </a:pPr>
            <a:br>
              <a:rPr lang="en-GB" sz="700"/>
            </a:br>
            <a:r>
              <a:rPr lang="en-GB" sz="700"/>
              <a:t>P.O. Box 4, Mukono, Uganda, Plot 67-173, Bishop Tucker Road, Mukono Hill</a:t>
            </a:r>
            <a:endParaRPr lang="en-US" sz="700"/>
          </a:p>
          <a:p>
            <a:pPr algn="ctr">
              <a:defRPr/>
            </a:pPr>
            <a:r>
              <a:rPr lang="en-GB" sz="700"/>
              <a:t>Tel: +256 (0) 312 350 800 Email: </a:t>
            </a:r>
            <a:r>
              <a:rPr lang="en-GB" sz="700" u="sng">
                <a:solidFill>
                  <a:srgbClr val="0000FF"/>
                </a:solidFill>
                <a:hlinkClick r:id="rId15"/>
              </a:rPr>
              <a:t>info@ucu.ac.ug</a:t>
            </a:r>
            <a:r>
              <a:rPr lang="en-GB" sz="700">
                <a:solidFill>
                  <a:srgbClr val="0000FF"/>
                </a:solidFill>
              </a:rPr>
              <a:t> </a:t>
            </a:r>
            <a:r>
              <a:rPr lang="en-GB" sz="700"/>
              <a:t>Web: </a:t>
            </a:r>
            <a:r>
              <a:rPr lang="en-GB" sz="700" u="sng">
                <a:solidFill>
                  <a:srgbClr val="0000FF"/>
                </a:solidFill>
              </a:rPr>
              <a:t>https://</a:t>
            </a:r>
            <a:r>
              <a:rPr lang="en-GB" sz="700" u="sng">
                <a:solidFill>
                  <a:srgbClr val="0000FF"/>
                </a:solidFill>
                <a:hlinkClick r:id="rId16"/>
              </a:rPr>
              <a:t>ucu.ac.ug</a:t>
            </a:r>
            <a:endParaRPr lang="en-US" sz="700" u="sng">
              <a:solidFill>
                <a:srgbClr val="0000FF"/>
              </a:solidFill>
            </a:endParaRPr>
          </a:p>
          <a:p>
            <a:pPr algn="ctr">
              <a:defRPr/>
            </a:pPr>
            <a:r>
              <a:rPr lang="en-GB" sz="650"/>
              <a:t>Founded by the Province of the Church of Uganda. Chartered by the Government of Uganda</a:t>
            </a:r>
            <a:endParaRPr lang="en-US" sz="650"/>
          </a:p>
        </p:txBody>
      </p:sp>
      <p:cxnSp>
        <p:nvCxnSpPr>
          <p:cNvPr id="1391055169" name="Straight Connector 16"/>
          <p:cNvCxnSpPr/>
          <p:nvPr userDrawn="1"/>
        </p:nvCxnSpPr>
        <p:spPr bwMode="auto">
          <a:xfrm>
            <a:off x="0" y="6395027"/>
            <a:ext cx="12192000" cy="0"/>
          </a:xfrm>
          <a:prstGeom prst="line">
            <a:avLst/>
          </a:prstGeom>
          <a:ln w="12700">
            <a:solidFill>
              <a:srgbClr val="D701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rgbClr val="1F497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Clr>
          <a:srgbClr val="D7014D"/>
        </a:buClr>
        <a:buFont typeface="Wingdings"/>
        <a:buChar char="q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Clr>
          <a:srgbClr val="0B3D91"/>
        </a:buClr>
        <a:buSzPct val="95000"/>
        <a:buFont typeface="Wingdings"/>
        <a:buChar char="q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Clr>
          <a:srgbClr val="D70167"/>
        </a:buClr>
        <a:buSzPct val="90000"/>
        <a:buFont typeface="Wingdings"/>
        <a:buChar char="q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Clr>
          <a:srgbClr val="D70167"/>
        </a:buClr>
        <a:buSzPct val="88000"/>
        <a:buFont typeface="Wingdings"/>
        <a:buChar char="q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Clr>
          <a:srgbClr val="007931"/>
        </a:buClr>
        <a:buSzPct val="86000"/>
        <a:buFont typeface="Wingdings"/>
        <a:buChar char="q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41273" name="Title 1"/>
          <p:cNvSpPr>
            <a:spLocks noGrp="1"/>
          </p:cNvSpPr>
          <p:nvPr>
            <p:ph type="ctrTitle"/>
          </p:nvPr>
        </p:nvSpPr>
        <p:spPr bwMode="auto">
          <a:xfrm>
            <a:off x="1524000" y="679269"/>
            <a:ext cx="9144000" cy="257669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Staff Attendance and Productivity Tracking System Using OOP</a:t>
            </a:r>
            <a:endParaRPr lang="en-GB" dirty="0"/>
          </a:p>
        </p:txBody>
      </p:sp>
      <p:sp>
        <p:nvSpPr>
          <p:cNvPr id="557969480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B35966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7514"/>
            <a:ext cx="10709366" cy="4489450"/>
          </a:xfrm>
        </p:spPr>
        <p:txBody>
          <a:bodyPr/>
          <a:lstStyle/>
          <a:p>
            <a:r>
              <a:rPr dirty="0"/>
              <a:t>Public institutions</a:t>
            </a:r>
            <a:r>
              <a:rPr lang="en-US" dirty="0"/>
              <a:t> especially local governments</a:t>
            </a:r>
            <a:r>
              <a:rPr dirty="0"/>
              <a:t> rely on manual attendance registers.</a:t>
            </a:r>
          </a:p>
          <a:p>
            <a:r>
              <a:rPr dirty="0"/>
              <a:t>HR decisions often lack data-driven analysis.</a:t>
            </a:r>
          </a:p>
          <a:p>
            <a:r>
              <a:rPr dirty="0" err="1"/>
              <a:t>Bugiri</a:t>
            </a:r>
            <a:r>
              <a:rPr dirty="0"/>
              <a:t> District lacks attendance-productivity analytics.</a:t>
            </a:r>
          </a:p>
          <a:p>
            <a:r>
              <a:rPr dirty="0"/>
              <a:t>Manual processes are slow and error-prone</a:t>
            </a:r>
            <a:r>
              <a:rPr lang="en-US" dirty="0"/>
              <a:t> and are mainly used for basic head counts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Generate automated records of daily staff attendance and punctuality, including minutes late and hours worked.</a:t>
            </a:r>
            <a:endParaRPr lang="en-UG" dirty="0"/>
          </a:p>
          <a:p>
            <a:pPr lvl="0"/>
            <a:r>
              <a:rPr lang="en-US" dirty="0"/>
              <a:t>Compute average arrival and departure times per staff, and summarize punctuality indicators.</a:t>
            </a:r>
            <a:endParaRPr lang="en-UG" dirty="0"/>
          </a:p>
          <a:p>
            <a:pPr lvl="0"/>
            <a:r>
              <a:rPr lang="en-US" dirty="0"/>
              <a:t>Produce scatter plots and visualizations showing the relationship between attendance, punctuality, and monthly output.</a:t>
            </a:r>
            <a:endParaRPr lang="en-U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Dataset: 10 staff, 27 Oct–21 Nov 2025.</a:t>
            </a:r>
          </a:p>
          <a:p>
            <a:r>
              <a:rPr dirty="0"/>
              <a:t>Fields: date, staff, arrival, departure, attendance, outputs, targets.</a:t>
            </a:r>
          </a:p>
          <a:p>
            <a:r>
              <a:rPr dirty="0"/>
              <a:t>Tools: Python, pandas, NumPy, Matplotlib.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/ OOP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system is designed around two main classes:</a:t>
            </a:r>
            <a:endParaRPr lang="en-UG" sz="2400" dirty="0"/>
          </a:p>
          <a:p>
            <a:pPr lvl="0"/>
            <a:r>
              <a:rPr lang="en-US" b="1" dirty="0" err="1"/>
              <a:t>AttendanceData</a:t>
            </a:r>
            <a:r>
              <a:rPr lang="en-US" dirty="0"/>
              <a:t> – manages the full dataset:</a:t>
            </a:r>
            <a:endParaRPr lang="en-UG" sz="2400" dirty="0"/>
          </a:p>
          <a:p>
            <a:pPr lvl="1"/>
            <a:r>
              <a:rPr lang="en-US" dirty="0"/>
              <a:t>Loading and preprocessing of raw data</a:t>
            </a:r>
            <a:endParaRPr lang="en-UG" sz="2000" dirty="0"/>
          </a:p>
          <a:p>
            <a:pPr lvl="1"/>
            <a:r>
              <a:rPr lang="en-US" dirty="0"/>
              <a:t>Computing daily punctuality metrics</a:t>
            </a:r>
            <a:endParaRPr lang="en-UG" sz="2000" dirty="0"/>
          </a:p>
          <a:p>
            <a:pPr lvl="1"/>
            <a:r>
              <a:rPr lang="en-US" dirty="0"/>
              <a:t>Generating per-employee summaries</a:t>
            </a:r>
            <a:endParaRPr lang="en-UG" sz="2000" dirty="0"/>
          </a:p>
          <a:p>
            <a:pPr lvl="1"/>
            <a:r>
              <a:rPr lang="en-US" dirty="0"/>
              <a:t>Producing </a:t>
            </a:r>
            <a:r>
              <a:rPr lang="en-US" dirty="0" err="1"/>
              <a:t>visualisations</a:t>
            </a:r>
            <a:endParaRPr lang="en-UG" sz="2000" dirty="0"/>
          </a:p>
          <a:p>
            <a:pPr lvl="0"/>
            <a:r>
              <a:rPr lang="en-US" b="1" dirty="0" err="1"/>
              <a:t>EmployeeAttdStats</a:t>
            </a:r>
            <a:r>
              <a:rPr lang="en-US" dirty="0"/>
              <a:t> – represents statistics for a single staff member:</a:t>
            </a:r>
          </a:p>
          <a:p>
            <a:pPr lvl="1"/>
            <a:r>
              <a:rPr lang="en-US" dirty="0"/>
              <a:t>Average arrival time</a:t>
            </a:r>
            <a:endParaRPr lang="en-UG" sz="2000" dirty="0"/>
          </a:p>
          <a:p>
            <a:pPr lvl="1"/>
            <a:r>
              <a:rPr lang="en-US" dirty="0"/>
              <a:t>Average departure time</a:t>
            </a:r>
            <a:endParaRPr lang="en-UG" sz="2000" dirty="0"/>
          </a:p>
          <a:p>
            <a:pPr lvl="1"/>
            <a:r>
              <a:rPr lang="en-US" dirty="0"/>
              <a:t>Average minutes late</a:t>
            </a:r>
          </a:p>
          <a:p>
            <a:pPr lvl="0"/>
            <a:r>
              <a:rPr lang="en-US" dirty="0" err="1"/>
              <a:t>AttendanceData</a:t>
            </a:r>
            <a:r>
              <a:rPr lang="en-US" dirty="0"/>
              <a:t> creates and uses multiple </a:t>
            </a:r>
            <a:r>
              <a:rPr lang="en-US" dirty="0" err="1"/>
              <a:t>EmployeeAttdStats</a:t>
            </a:r>
            <a:r>
              <a:rPr lang="en-US" dirty="0"/>
              <a:t> objects for analysis.</a:t>
            </a:r>
            <a:endParaRPr lang="en-UG" dirty="0"/>
          </a:p>
          <a:p>
            <a:pPr marL="457200" lvl="1" indent="0">
              <a:buNone/>
            </a:pPr>
            <a:endParaRPr lang="en-UG" sz="2000" dirty="0"/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Methods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AttendanceData</a:t>
            </a:r>
            <a:r>
              <a:rPr dirty="0"/>
              <a:t>: _process(),</a:t>
            </a:r>
            <a:r>
              <a:rPr lang="en-UG" dirty="0"/>
              <a:t> </a:t>
            </a:r>
            <a:r>
              <a:rPr dirty="0" err="1"/>
              <a:t>per_employee_stats</a:t>
            </a:r>
            <a:r>
              <a:rPr dirty="0"/>
              <a:t>(), </a:t>
            </a:r>
            <a:r>
              <a:rPr dirty="0" err="1"/>
              <a:t>employee_summary</a:t>
            </a:r>
            <a:r>
              <a:rPr dirty="0"/>
              <a:t>().</a:t>
            </a:r>
            <a:r>
              <a:rPr lang="en-US" dirty="0"/>
              <a:t> </a:t>
            </a:r>
            <a:r>
              <a:rPr dirty="0" err="1"/>
              <a:t>plot_attendance_vs_output</a:t>
            </a:r>
            <a:r>
              <a:rPr dirty="0"/>
              <a:t>(), </a:t>
            </a:r>
            <a:r>
              <a:rPr dirty="0" err="1"/>
              <a:t>plot_punctuality_vs_output</a:t>
            </a:r>
            <a:r>
              <a:rPr dirty="0"/>
              <a:t>().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 err="1"/>
              <a:t>EmployeeAttdStats</a:t>
            </a:r>
            <a:r>
              <a:rPr dirty="0"/>
              <a:t>: </a:t>
            </a:r>
            <a:r>
              <a:rPr dirty="0" err="1"/>
              <a:t>avg_arrival_time</a:t>
            </a:r>
            <a:r>
              <a:rPr dirty="0"/>
              <a:t>(), </a:t>
            </a:r>
            <a:r>
              <a:rPr dirty="0" err="1"/>
              <a:t>avg_departure_time</a:t>
            </a:r>
            <a:r>
              <a:rPr dirty="0"/>
              <a:t>(), </a:t>
            </a:r>
            <a:r>
              <a:rPr dirty="0" err="1"/>
              <a:t>avg_minutes_late</a:t>
            </a:r>
            <a:r>
              <a:rPr dirty="0"/>
              <a:t>().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Attendance &amp; Punctuality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computes arrival &amp; departure times.</a:t>
            </a:r>
          </a:p>
          <a:p>
            <a:r>
              <a:t>Minutes late relative to 08:30.</a:t>
            </a:r>
          </a:p>
          <a:p>
            <a:r>
              <a:t>Hours worked per day + attendance status.</a:t>
            </a:r>
          </a:p>
          <a:p>
            <a:r>
              <a:t>Improves accuracy and consistency.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 vs Output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Moderate positive correlation (~0.43).</a:t>
            </a:r>
            <a:r>
              <a:rPr lang="en-US" dirty="0"/>
              <a:t> Staff who attend more days tend to produce higher outputs, although attendance alone does not fully explain performance differences.</a:t>
            </a:r>
            <a:endParaRPr dirty="0"/>
          </a:p>
          <a:p>
            <a:r>
              <a:rPr dirty="0"/>
              <a:t>Higher outputs linked to 18–20 attendance days.</a:t>
            </a:r>
          </a:p>
          <a:p>
            <a:r>
              <a:rPr dirty="0"/>
              <a:t>Identifies low-attendance, low-output staff.</a:t>
            </a:r>
          </a:p>
          <a:p>
            <a:r>
              <a:rPr dirty="0"/>
              <a:t>Supports evidence-based HR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Punctuality vs Output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Weak–moderate relationship (~0.31).</a:t>
            </a:r>
          </a:p>
          <a:p>
            <a:r>
              <a:rPr dirty="0"/>
              <a:t>High performers tend to arrive early/on time.</a:t>
            </a:r>
          </a:p>
          <a:p>
            <a:r>
              <a:rPr dirty="0"/>
              <a:t>Zero-line helps detect punctuality distribution.</a:t>
            </a:r>
          </a:p>
          <a:p>
            <a:r>
              <a:rPr dirty="0"/>
              <a:t>Reveals punctuality’s impact on productivity.</a:t>
            </a:r>
            <a:endParaRPr lang="en-US" dirty="0"/>
          </a:p>
          <a:p>
            <a:r>
              <a:rPr lang="en-US" dirty="0"/>
              <a:t>However, there are also examples of staff with modest lateness but relatively strong outputs, implying that other factors like task complexity, individual efficiency, role differences might also contribute to productivity.</a:t>
            </a:r>
            <a:endParaRPr lang="en-UG" dirty="0"/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Automated analytics for attendance &amp; productivity.</a:t>
            </a:r>
          </a:p>
          <a:p>
            <a:r>
              <a:rPr dirty="0"/>
              <a:t>Effective OOP implementation using Python.</a:t>
            </a:r>
          </a:p>
          <a:p>
            <a:r>
              <a:rPr dirty="0"/>
              <a:t>Adopt monthly analytics for HR decision-making.</a:t>
            </a:r>
          </a:p>
          <a:p>
            <a:r>
              <a:rPr dirty="0"/>
              <a:t>Reward high performers; support low performers.</a:t>
            </a:r>
          </a:p>
          <a:p>
            <a:r>
              <a:rPr dirty="0"/>
              <a:t>Future: integrate biometric attendance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Trebuchet MS">
      <a:majorFont>
        <a:latin typeface="Trebuchet MS"/>
        <a:ea typeface="Arial"/>
        <a:cs typeface="Arial"/>
      </a:majorFont>
      <a:minorFont>
        <a:latin typeface="Trebuchet M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">
      <a:majorFont>
        <a:latin typeface="Trebuchet MS"/>
        <a:ea typeface="Arial"/>
        <a:cs typeface="Arial"/>
      </a:majorFont>
      <a:minorFont>
        <a:latin typeface="Trebuchet M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448</Words>
  <Application>Microsoft Office PowerPoint</Application>
  <PresentationFormat>Widescreen</PresentationFormat>
  <Paragraphs>56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</vt:lpstr>
      <vt:lpstr>Office Theme</vt:lpstr>
      <vt:lpstr>Staff Attendance and Productivity Tracking System Using OOP</vt:lpstr>
      <vt:lpstr>Background &amp; Problem</vt:lpstr>
      <vt:lpstr>Project Objectives</vt:lpstr>
      <vt:lpstr>Dataset and Tools</vt:lpstr>
      <vt:lpstr>System Architecture / OOP Design</vt:lpstr>
      <vt:lpstr>Key Methods Implemented</vt:lpstr>
      <vt:lpstr>Automated Attendance &amp; Punctuality</vt:lpstr>
      <vt:lpstr>Attendance vs Output Insights</vt:lpstr>
      <vt:lpstr>Punctuality vs Output Insights</vt:lpstr>
      <vt:lpstr>Conclusion &amp;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UCU</dc:title>
  <dc:creator>Microsoft Office User</dc:creator>
  <cp:lastModifiedBy>LG</cp:lastModifiedBy>
  <cp:revision>26</cp:revision>
  <dcterms:created xsi:type="dcterms:W3CDTF">2023-08-23T08:11:39Z</dcterms:created>
  <dcterms:modified xsi:type="dcterms:W3CDTF">2025-12-12T12:06:39Z</dcterms:modified>
</cp:coreProperties>
</file>